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9" d="100"/>
          <a:sy n="109" d="100"/>
        </p:scale>
        <p:origin x="63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A4E0D7EC-CF08-43F4-9F11-9AA93C87E8AD}" type="datetimeFigureOut">
              <a:rPr lang="tr-TR" smtClean="0"/>
              <a:t>29.04.2020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78BBCA7A-CD3C-448E-8107-087FA380CA13}" type="slidenum">
              <a:rPr lang="tr-TR" smtClean="0"/>
              <a:t>‹#›</a:t>
            </a:fld>
            <a:endParaRPr lang="tr-TR"/>
          </a:p>
        </p:txBody>
      </p:sp>
    </p:spTree>
    <p:extLst>
      <p:ext uri="{BB962C8B-B14F-4D97-AF65-F5344CB8AC3E}">
        <p14:creationId xmlns:p14="http://schemas.microsoft.com/office/powerpoint/2010/main" val="2201409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A4E0D7EC-CF08-43F4-9F11-9AA93C87E8AD}" type="datetimeFigureOut">
              <a:rPr lang="tr-TR" smtClean="0"/>
              <a:t>29.04.2020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78BBCA7A-CD3C-448E-8107-087FA380CA13}" type="slidenum">
              <a:rPr lang="tr-TR" smtClean="0"/>
              <a:t>‹#›</a:t>
            </a:fld>
            <a:endParaRPr lang="tr-TR"/>
          </a:p>
        </p:txBody>
      </p:sp>
    </p:spTree>
    <p:extLst>
      <p:ext uri="{BB962C8B-B14F-4D97-AF65-F5344CB8AC3E}">
        <p14:creationId xmlns:p14="http://schemas.microsoft.com/office/powerpoint/2010/main" val="20057381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4E0D7EC-CF08-43F4-9F11-9AA93C87E8AD}" type="datetimeFigureOut">
              <a:rPr lang="tr-TR" smtClean="0"/>
              <a:t>29.04.2020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78BBCA7A-CD3C-448E-8107-087FA380CA13}" type="slidenum">
              <a:rPr lang="tr-TR" smtClean="0"/>
              <a:t>‹#›</a:t>
            </a:fld>
            <a:endParaRPr lang="tr-TR"/>
          </a:p>
        </p:txBody>
      </p:sp>
    </p:spTree>
    <p:extLst>
      <p:ext uri="{BB962C8B-B14F-4D97-AF65-F5344CB8AC3E}">
        <p14:creationId xmlns:p14="http://schemas.microsoft.com/office/powerpoint/2010/main" val="36663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A4E0D7EC-CF08-43F4-9F11-9AA93C87E8AD}" type="datetimeFigureOut">
              <a:rPr lang="tr-TR" smtClean="0"/>
              <a:t>29.04.2020</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78BBCA7A-CD3C-448E-8107-087FA380CA13}" type="slidenum">
              <a:rPr lang="tr-TR" smtClean="0"/>
              <a:t>‹#›</a:t>
            </a:fld>
            <a:endParaRPr lang="tr-TR"/>
          </a:p>
        </p:txBody>
      </p:sp>
    </p:spTree>
    <p:extLst>
      <p:ext uri="{BB962C8B-B14F-4D97-AF65-F5344CB8AC3E}">
        <p14:creationId xmlns:p14="http://schemas.microsoft.com/office/powerpoint/2010/main" val="8079762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A4E0D7EC-CF08-43F4-9F11-9AA93C87E8AD}" type="datetimeFigureOut">
              <a:rPr lang="tr-TR" smtClean="0"/>
              <a:t>29.04.2020</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78BBCA7A-CD3C-448E-8107-087FA380CA13}" type="slidenum">
              <a:rPr lang="tr-TR" smtClean="0"/>
              <a:t>‹#›</a:t>
            </a:fld>
            <a:endParaRPr lang="tr-TR"/>
          </a:p>
        </p:txBody>
      </p:sp>
    </p:spTree>
    <p:extLst>
      <p:ext uri="{BB962C8B-B14F-4D97-AF65-F5344CB8AC3E}">
        <p14:creationId xmlns:p14="http://schemas.microsoft.com/office/powerpoint/2010/main" val="18296478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A4E0D7EC-CF08-43F4-9F11-9AA93C87E8AD}" type="datetimeFigureOut">
              <a:rPr lang="tr-TR" smtClean="0"/>
              <a:t>29.04.2020</a:t>
            </a:fld>
            <a:endParaRPr lang="tr-TR"/>
          </a:p>
        </p:txBody>
      </p:sp>
      <p:sp>
        <p:nvSpPr>
          <p:cNvPr id="5" name="Footer Placeholder 3"/>
          <p:cNvSpPr>
            <a:spLocks noGrp="1"/>
          </p:cNvSpPr>
          <p:nvPr>
            <p:ph type="ftr" sz="quarter" idx="11"/>
          </p:nvPr>
        </p:nvSpPr>
        <p:spPr/>
        <p:txBody>
          <a:bodyPr/>
          <a:lstStyle/>
          <a:p>
            <a:endParaRPr lang="tr-TR"/>
          </a:p>
        </p:txBody>
      </p:sp>
      <p:sp>
        <p:nvSpPr>
          <p:cNvPr id="6" name="Slide Number Placeholder 4"/>
          <p:cNvSpPr>
            <a:spLocks noGrp="1"/>
          </p:cNvSpPr>
          <p:nvPr>
            <p:ph type="sldNum" sz="quarter" idx="12"/>
          </p:nvPr>
        </p:nvSpPr>
        <p:spPr/>
        <p:txBody>
          <a:bodyPr/>
          <a:lstStyle/>
          <a:p>
            <a:fld id="{78BBCA7A-CD3C-448E-8107-087FA380CA13}" type="slidenum">
              <a:rPr lang="tr-TR" smtClean="0"/>
              <a:t>‹#›</a:t>
            </a:fld>
            <a:endParaRPr lang="tr-TR"/>
          </a:p>
        </p:txBody>
      </p:sp>
    </p:spTree>
    <p:extLst>
      <p:ext uri="{BB962C8B-B14F-4D97-AF65-F5344CB8AC3E}">
        <p14:creationId xmlns:p14="http://schemas.microsoft.com/office/powerpoint/2010/main" val="17353454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A4E0D7EC-CF08-43F4-9F11-9AA93C87E8AD}" type="datetimeFigureOut">
              <a:rPr lang="tr-TR" smtClean="0"/>
              <a:t>29.04.2020</a:t>
            </a:fld>
            <a:endParaRPr lang="tr-TR"/>
          </a:p>
        </p:txBody>
      </p:sp>
      <p:sp>
        <p:nvSpPr>
          <p:cNvPr id="5" name="Footer Placeholder 2"/>
          <p:cNvSpPr>
            <a:spLocks noGrp="1"/>
          </p:cNvSpPr>
          <p:nvPr>
            <p:ph type="ftr" sz="quarter" idx="11"/>
          </p:nvPr>
        </p:nvSpPr>
        <p:spPr/>
        <p:txBody>
          <a:bodyPr/>
          <a:lstStyle/>
          <a:p>
            <a:endParaRPr lang="tr-TR"/>
          </a:p>
        </p:txBody>
      </p:sp>
      <p:sp>
        <p:nvSpPr>
          <p:cNvPr id="6" name="Slide Number Placeholder 3"/>
          <p:cNvSpPr>
            <a:spLocks noGrp="1"/>
          </p:cNvSpPr>
          <p:nvPr>
            <p:ph type="sldNum" sz="quarter" idx="12"/>
          </p:nvPr>
        </p:nvSpPr>
        <p:spPr/>
        <p:txBody>
          <a:bodyPr/>
          <a:lstStyle/>
          <a:p>
            <a:fld id="{78BBCA7A-CD3C-448E-8107-087FA380CA13}" type="slidenum">
              <a:rPr lang="tr-TR" smtClean="0"/>
              <a:t>‹#›</a:t>
            </a:fld>
            <a:endParaRPr lang="tr-TR"/>
          </a:p>
        </p:txBody>
      </p:sp>
    </p:spTree>
    <p:extLst>
      <p:ext uri="{BB962C8B-B14F-4D97-AF65-F5344CB8AC3E}">
        <p14:creationId xmlns:p14="http://schemas.microsoft.com/office/powerpoint/2010/main" val="31143474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7" name="Date Placeholder 4"/>
          <p:cNvSpPr>
            <a:spLocks noGrp="1"/>
          </p:cNvSpPr>
          <p:nvPr>
            <p:ph type="dt" sz="half" idx="10"/>
          </p:nvPr>
        </p:nvSpPr>
        <p:spPr/>
        <p:txBody>
          <a:bodyPr/>
          <a:lstStyle/>
          <a:p>
            <a:fld id="{A4E0D7EC-CF08-43F4-9F11-9AA93C87E8AD}" type="datetimeFigureOut">
              <a:rPr lang="tr-TR" smtClean="0"/>
              <a:t>29.04.2020</a:t>
            </a:fld>
            <a:endParaRPr lang="tr-TR"/>
          </a:p>
        </p:txBody>
      </p:sp>
      <p:sp>
        <p:nvSpPr>
          <p:cNvPr id="5" name="Footer Placeholder 5"/>
          <p:cNvSpPr>
            <a:spLocks noGrp="1"/>
          </p:cNvSpPr>
          <p:nvPr>
            <p:ph type="ftr" sz="quarter" idx="11"/>
          </p:nvPr>
        </p:nvSpPr>
        <p:spPr/>
        <p:txBody>
          <a:bodyPr/>
          <a:lstStyle/>
          <a:p>
            <a:endParaRPr lang="tr-TR"/>
          </a:p>
        </p:txBody>
      </p:sp>
      <p:sp>
        <p:nvSpPr>
          <p:cNvPr id="6" name="Slide Number Placeholder 6"/>
          <p:cNvSpPr>
            <a:spLocks noGrp="1"/>
          </p:cNvSpPr>
          <p:nvPr>
            <p:ph type="sldNum" sz="quarter" idx="12"/>
          </p:nvPr>
        </p:nvSpPr>
        <p:spPr/>
        <p:txBody>
          <a:bodyPr/>
          <a:lstStyle/>
          <a:p>
            <a:fld id="{78BBCA7A-CD3C-448E-8107-087FA380CA13}" type="slidenum">
              <a:rPr lang="tr-TR" smtClean="0"/>
              <a:t>‹#›</a:t>
            </a:fld>
            <a:endParaRPr lang="tr-TR"/>
          </a:p>
        </p:txBody>
      </p:sp>
    </p:spTree>
    <p:extLst>
      <p:ext uri="{BB962C8B-B14F-4D97-AF65-F5344CB8AC3E}">
        <p14:creationId xmlns:p14="http://schemas.microsoft.com/office/powerpoint/2010/main" val="2967514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A4E0D7EC-CF08-43F4-9F11-9AA93C87E8AD}" type="datetimeFigureOut">
              <a:rPr lang="tr-TR" smtClean="0"/>
              <a:t>29.04.2020</a:t>
            </a:fld>
            <a:endParaRPr lang="tr-T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8BBCA7A-CD3C-448E-8107-087FA380CA13}" type="slidenum">
              <a:rPr lang="tr-TR" smtClean="0"/>
              <a:t>‹#›</a:t>
            </a:fld>
            <a:endParaRPr lang="tr-TR"/>
          </a:p>
        </p:txBody>
      </p:sp>
    </p:spTree>
    <p:extLst>
      <p:ext uri="{BB962C8B-B14F-4D97-AF65-F5344CB8AC3E}">
        <p14:creationId xmlns:p14="http://schemas.microsoft.com/office/powerpoint/2010/main" val="22869361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A4E0D7EC-CF08-43F4-9F11-9AA93C87E8AD}" type="datetimeFigureOut">
              <a:rPr lang="tr-TR" smtClean="0"/>
              <a:t>29.04.2020</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78BBCA7A-CD3C-448E-8107-087FA380CA13}" type="slidenum">
              <a:rPr lang="tr-TR" smtClean="0"/>
              <a:t>‹#›</a:t>
            </a:fld>
            <a:endParaRPr lang="tr-TR"/>
          </a:p>
        </p:txBody>
      </p:sp>
    </p:spTree>
    <p:extLst>
      <p:ext uri="{BB962C8B-B14F-4D97-AF65-F5344CB8AC3E}">
        <p14:creationId xmlns:p14="http://schemas.microsoft.com/office/powerpoint/2010/main" val="39759841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A4E0D7EC-CF08-43F4-9F11-9AA93C87E8AD}" type="datetimeFigureOut">
              <a:rPr lang="tr-TR" smtClean="0"/>
              <a:t>29.04.2020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78BBCA7A-CD3C-448E-8107-087FA380CA13}" type="slidenum">
              <a:rPr lang="tr-TR" smtClean="0"/>
              <a:t>‹#›</a:t>
            </a:fld>
            <a:endParaRPr lang="tr-TR"/>
          </a:p>
        </p:txBody>
      </p:sp>
    </p:spTree>
    <p:extLst>
      <p:ext uri="{BB962C8B-B14F-4D97-AF65-F5344CB8AC3E}">
        <p14:creationId xmlns:p14="http://schemas.microsoft.com/office/powerpoint/2010/main" val="8200764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A4E0D7EC-CF08-43F4-9F11-9AA93C87E8AD}" type="datetimeFigureOut">
              <a:rPr lang="tr-TR" smtClean="0"/>
              <a:t>29.04.2020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78BBCA7A-CD3C-448E-8107-087FA380CA13}" type="slidenum">
              <a:rPr lang="tr-TR" smtClean="0"/>
              <a:t>‹#›</a:t>
            </a:fld>
            <a:endParaRPr lang="tr-TR"/>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2924032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4E0D7EC-CF08-43F4-9F11-9AA93C87E8AD}" type="datetimeFigureOut">
              <a:rPr lang="tr-TR" smtClean="0"/>
              <a:t>29.04.2020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78BBCA7A-CD3C-448E-8107-087FA380CA13}" type="slidenum">
              <a:rPr lang="tr-TR" smtClean="0"/>
              <a:t>‹#›</a:t>
            </a:fld>
            <a:endParaRPr lang="tr-TR"/>
          </a:p>
        </p:txBody>
      </p:sp>
    </p:spTree>
    <p:extLst>
      <p:ext uri="{BB962C8B-B14F-4D97-AF65-F5344CB8AC3E}">
        <p14:creationId xmlns:p14="http://schemas.microsoft.com/office/powerpoint/2010/main" val="18566313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4E0D7EC-CF08-43F4-9F11-9AA93C87E8AD}" type="datetimeFigureOut">
              <a:rPr lang="tr-TR" smtClean="0"/>
              <a:t>29.04.2020</a:t>
            </a:fld>
            <a:endParaRPr lang="tr-TR"/>
          </a:p>
        </p:txBody>
      </p:sp>
      <p:sp>
        <p:nvSpPr>
          <p:cNvPr id="4"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78BBCA7A-CD3C-448E-8107-087FA380CA13}" type="slidenum">
              <a:rPr lang="tr-TR" smtClean="0"/>
              <a:t>‹#›</a:t>
            </a:fld>
            <a:endParaRPr lang="tr-TR"/>
          </a:p>
        </p:txBody>
      </p:sp>
    </p:spTree>
    <p:extLst>
      <p:ext uri="{BB962C8B-B14F-4D97-AF65-F5344CB8AC3E}">
        <p14:creationId xmlns:p14="http://schemas.microsoft.com/office/powerpoint/2010/main" val="2984915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4E0D7EC-CF08-43F4-9F11-9AA93C87E8AD}" type="datetimeFigureOut">
              <a:rPr lang="tr-TR" smtClean="0"/>
              <a:t>29.04.2020</a:t>
            </a:fld>
            <a:endParaRPr lang="tr-TR"/>
          </a:p>
        </p:txBody>
      </p:sp>
      <p:sp>
        <p:nvSpPr>
          <p:cNvPr id="4"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78BBCA7A-CD3C-448E-8107-087FA380CA13}" type="slidenum">
              <a:rPr lang="tr-TR" smtClean="0"/>
              <a:t>‹#›</a:t>
            </a:fld>
            <a:endParaRPr lang="tr-TR"/>
          </a:p>
        </p:txBody>
      </p:sp>
    </p:spTree>
    <p:extLst>
      <p:ext uri="{BB962C8B-B14F-4D97-AF65-F5344CB8AC3E}">
        <p14:creationId xmlns:p14="http://schemas.microsoft.com/office/powerpoint/2010/main" val="21954101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4E0D7EC-CF08-43F4-9F11-9AA93C87E8AD}" type="datetimeFigureOut">
              <a:rPr lang="tr-TR" smtClean="0"/>
              <a:t>29.04.2020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78BBCA7A-CD3C-448E-8107-087FA380CA13}" type="slidenum">
              <a:rPr lang="tr-TR" smtClean="0"/>
              <a:t>‹#›</a:t>
            </a:fld>
            <a:endParaRPr lang="tr-TR"/>
          </a:p>
        </p:txBody>
      </p:sp>
    </p:spTree>
    <p:extLst>
      <p:ext uri="{BB962C8B-B14F-4D97-AF65-F5344CB8AC3E}">
        <p14:creationId xmlns:p14="http://schemas.microsoft.com/office/powerpoint/2010/main" val="35915310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4E0D7EC-CF08-43F4-9F11-9AA93C87E8AD}" type="datetimeFigureOut">
              <a:rPr lang="tr-TR" smtClean="0"/>
              <a:t>29.04.2020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78BBCA7A-CD3C-448E-8107-087FA380CA13}" type="slidenum">
              <a:rPr lang="tr-TR" smtClean="0"/>
              <a:t>‹#›</a:t>
            </a:fld>
            <a:endParaRPr lang="tr-TR"/>
          </a:p>
        </p:txBody>
      </p:sp>
    </p:spTree>
    <p:extLst>
      <p:ext uri="{BB962C8B-B14F-4D97-AF65-F5344CB8AC3E}">
        <p14:creationId xmlns:p14="http://schemas.microsoft.com/office/powerpoint/2010/main" val="34905409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A4E0D7EC-CF08-43F4-9F11-9AA93C87E8AD}" type="datetimeFigureOut">
              <a:rPr lang="tr-TR" smtClean="0"/>
              <a:t>29.04.2020</a:t>
            </a:fld>
            <a:endParaRPr lang="tr-TR"/>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tr-TR"/>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78BBCA7A-CD3C-448E-8107-087FA380CA13}" type="slidenum">
              <a:rPr lang="tr-TR" smtClean="0"/>
              <a:t>‹#›</a:t>
            </a:fld>
            <a:endParaRPr lang="tr-TR"/>
          </a:p>
        </p:txBody>
      </p:sp>
    </p:spTree>
    <p:extLst>
      <p:ext uri="{BB962C8B-B14F-4D97-AF65-F5344CB8AC3E}">
        <p14:creationId xmlns:p14="http://schemas.microsoft.com/office/powerpoint/2010/main" val="1394423146"/>
      </p:ext>
    </p:extLst>
  </p:cSld>
  <p:clrMap bg1="dk1" tx1="lt1" bg2="dk2" tx2="lt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 id="2147483772" r:id="rId12"/>
    <p:sldLayoutId id="2147483773" r:id="rId13"/>
    <p:sldLayoutId id="2147483774" r:id="rId14"/>
    <p:sldLayoutId id="2147483775" r:id="rId15"/>
    <p:sldLayoutId id="2147483776" r:id="rId16"/>
    <p:sldLayoutId id="21474837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sezeromer.com/swift-outlet-ve-action/" TargetMode="External"/><Relationship Id="rId2" Type="http://schemas.openxmlformats.org/officeDocument/2006/relationships/hyperlink" Target="https://www.ioscreator.com/tutorials/stepper-ios-tutorial" TargetMode="External"/><Relationship Id="rId1" Type="http://schemas.openxmlformats.org/officeDocument/2006/relationships/slideLayout" Target="../slideLayouts/slideLayout2.xml"/><Relationship Id="rId5" Type="http://schemas.openxmlformats.org/officeDocument/2006/relationships/hyperlink" Target="https://developer.apple.com/documentation/uikit/uidatepicker" TargetMode="External"/><Relationship Id="rId4" Type="http://schemas.openxmlformats.org/officeDocument/2006/relationships/hyperlink" Target="https://developer.apple.com/documentation/uikit/uipickerview"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69848" y="1353312"/>
            <a:ext cx="9966960" cy="3035808"/>
          </a:xfrm>
        </p:spPr>
        <p:txBody>
          <a:bodyPr/>
          <a:lstStyle/>
          <a:p>
            <a:pPr algn="ctr"/>
            <a:r>
              <a:rPr lang="tr-TR" sz="2000" dirty="0" smtClean="0"/>
              <a:t>İOS PROGRAMLAMAYA GİRİŞ</a:t>
            </a:r>
            <a:br>
              <a:rPr lang="tr-TR" sz="2000" dirty="0" smtClean="0"/>
            </a:br>
            <a:r>
              <a:rPr lang="tr-TR" sz="2000" b="1" i="1" dirty="0"/>
              <a:t>ÖĞRENCİNİN;</a:t>
            </a:r>
            <a:r>
              <a:rPr lang="tr-TR" sz="2000" dirty="0"/>
              <a:t/>
            </a:r>
            <a:br>
              <a:rPr lang="tr-TR" sz="2000" dirty="0"/>
            </a:br>
            <a:r>
              <a:rPr lang="tr-TR" sz="2000" b="1" i="1" dirty="0"/>
              <a:t>ADI = SERDAR MURAT</a:t>
            </a:r>
            <a:r>
              <a:rPr lang="tr-TR" sz="2000" dirty="0"/>
              <a:t/>
            </a:r>
            <a:br>
              <a:rPr lang="tr-TR" sz="2000" dirty="0"/>
            </a:br>
            <a:r>
              <a:rPr lang="tr-TR" sz="2000" b="1" i="1" dirty="0"/>
              <a:t>SOYADI = ERİÇOK</a:t>
            </a:r>
            <a:r>
              <a:rPr lang="tr-TR" sz="2000" dirty="0"/>
              <a:t/>
            </a:r>
            <a:br>
              <a:rPr lang="tr-TR" sz="2000" dirty="0"/>
            </a:br>
            <a:r>
              <a:rPr lang="tr-TR" sz="2000" b="1" i="1" dirty="0"/>
              <a:t>NUMARASI = 18MY93001	</a:t>
            </a:r>
            <a:r>
              <a:rPr lang="tr-TR" sz="2000" dirty="0"/>
              <a:t/>
            </a:r>
            <a:br>
              <a:rPr lang="tr-TR" sz="2000" dirty="0"/>
            </a:br>
            <a:r>
              <a:rPr lang="tr-TR" sz="2000" b="1" i="1" dirty="0"/>
              <a:t> </a:t>
            </a:r>
            <a:r>
              <a:rPr lang="tr-TR" sz="2000" dirty="0"/>
              <a:t/>
            </a:r>
            <a:br>
              <a:rPr lang="tr-TR" sz="2000" dirty="0"/>
            </a:br>
            <a:r>
              <a:rPr lang="tr-TR" sz="2000" b="1" i="1" dirty="0"/>
              <a:t>İOS PROGRAMLAMAYA GİRİŞ</a:t>
            </a:r>
            <a:r>
              <a:rPr lang="tr-TR" sz="2000" dirty="0"/>
              <a:t/>
            </a:r>
            <a:br>
              <a:rPr lang="tr-TR" sz="2000" dirty="0"/>
            </a:br>
            <a:r>
              <a:rPr lang="tr-TR" sz="2000" b="1" i="1" dirty="0"/>
              <a:t>ÖGR.GRV.NİLGÜN İNCEREİS</a:t>
            </a:r>
            <a:r>
              <a:rPr lang="tr-TR" dirty="0"/>
              <a:t/>
            </a:r>
            <a:br>
              <a:rPr lang="tr-TR" dirty="0"/>
            </a:br>
            <a:r>
              <a:rPr lang="tr-TR" sz="1200" dirty="0" smtClean="0"/>
              <a:t/>
            </a:r>
            <a:br>
              <a:rPr lang="tr-TR" sz="1200" dirty="0" smtClean="0"/>
            </a:br>
            <a:endParaRPr lang="tr-TR" sz="1200" dirty="0"/>
          </a:p>
        </p:txBody>
      </p:sp>
      <p:sp>
        <p:nvSpPr>
          <p:cNvPr id="3" name="Subtitle 2"/>
          <p:cNvSpPr>
            <a:spLocks noGrp="1"/>
          </p:cNvSpPr>
          <p:nvPr>
            <p:ph type="subTitle" idx="1"/>
          </p:nvPr>
        </p:nvSpPr>
        <p:spPr/>
        <p:txBody>
          <a:bodyPr>
            <a:normAutofit/>
          </a:bodyPr>
          <a:lstStyle/>
          <a:p>
            <a:r>
              <a:rPr lang="tr-TR" sz="4000" b="1" i="1" dirty="0" smtClean="0"/>
              <a:t>MYWORLD OTEL UYGULAMASI</a:t>
            </a:r>
            <a:endParaRPr lang="tr-TR" sz="4000" b="1" i="1" dirty="0"/>
          </a:p>
        </p:txBody>
      </p:sp>
      <p:pic>
        <p:nvPicPr>
          <p:cNvPr id="4" name="Picture 3"/>
          <p:cNvPicPr>
            <a:picLocks noChangeAspect="1"/>
          </p:cNvPicPr>
          <p:nvPr/>
        </p:nvPicPr>
        <p:blipFill>
          <a:blip r:embed="rId2"/>
          <a:stretch>
            <a:fillRect/>
          </a:stretch>
        </p:blipFill>
        <p:spPr>
          <a:xfrm>
            <a:off x="350227" y="553212"/>
            <a:ext cx="2857500" cy="1600200"/>
          </a:xfrm>
          <a:prstGeom prst="rect">
            <a:avLst/>
          </a:prstGeom>
        </p:spPr>
      </p:pic>
      <p:pic>
        <p:nvPicPr>
          <p:cNvPr id="5" name="Picture 4"/>
          <p:cNvPicPr>
            <a:picLocks noChangeAspect="1"/>
          </p:cNvPicPr>
          <p:nvPr/>
        </p:nvPicPr>
        <p:blipFill>
          <a:blip r:embed="rId3"/>
          <a:stretch>
            <a:fillRect/>
          </a:stretch>
        </p:blipFill>
        <p:spPr>
          <a:xfrm>
            <a:off x="350227" y="2506800"/>
            <a:ext cx="2209800" cy="2076450"/>
          </a:xfrm>
          <a:prstGeom prst="rect">
            <a:avLst/>
          </a:prstGeom>
        </p:spPr>
      </p:pic>
    </p:spTree>
    <p:extLst>
      <p:ext uri="{BB962C8B-B14F-4D97-AF65-F5344CB8AC3E}">
        <p14:creationId xmlns:p14="http://schemas.microsoft.com/office/powerpoint/2010/main" val="40500135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smtClean="0"/>
              <a:t>XCode Nedir?</a:t>
            </a:r>
            <a:endParaRPr lang="tr-TR" dirty="0"/>
          </a:p>
        </p:txBody>
      </p:sp>
      <p:sp>
        <p:nvSpPr>
          <p:cNvPr id="3" name="Content Placeholder 2"/>
          <p:cNvSpPr>
            <a:spLocks noGrp="1"/>
          </p:cNvSpPr>
          <p:nvPr>
            <p:ph idx="1"/>
          </p:nvPr>
        </p:nvSpPr>
        <p:spPr/>
        <p:txBody>
          <a:bodyPr/>
          <a:lstStyle/>
          <a:p>
            <a:r>
              <a:rPr lang="tr-TR" dirty="0"/>
              <a:t>Xcode bir IDE(integrated development environment) uygulamasıdır. Bünyesinde programlama editöründen test uygulamasına, tasarım oluşturmaktan hata ayıklama programlarına kadar pek çok özelliği içeren paketlere IDE diyoruz. Genellikle bu IDE uygulamaları kodlama editörlerinin ismini alır. Xcode uygulaması da ismini bu şekilde alır. Uygulama paketi sayesinde uygulamanızın yazılımını, tasarımını, hata ayıklamasını ve test edeceği simülasyon cihazlarını tek bir uygulama içerisinden yapabiliyor.</a:t>
            </a:r>
          </a:p>
        </p:txBody>
      </p:sp>
    </p:spTree>
    <p:extLst>
      <p:ext uri="{BB962C8B-B14F-4D97-AF65-F5344CB8AC3E}">
        <p14:creationId xmlns:p14="http://schemas.microsoft.com/office/powerpoint/2010/main" val="9376888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smtClean="0"/>
              <a:t>Swift Nedir?</a:t>
            </a:r>
            <a:endParaRPr lang="tr-TR" dirty="0"/>
          </a:p>
        </p:txBody>
      </p:sp>
      <p:sp>
        <p:nvSpPr>
          <p:cNvPr id="3" name="Content Placeholder 2"/>
          <p:cNvSpPr>
            <a:spLocks noGrp="1"/>
          </p:cNvSpPr>
          <p:nvPr>
            <p:ph idx="1"/>
          </p:nvPr>
        </p:nvSpPr>
        <p:spPr/>
        <p:txBody>
          <a:bodyPr>
            <a:normAutofit fontScale="92500" lnSpcReduction="10000"/>
          </a:bodyPr>
          <a:lstStyle/>
          <a:p>
            <a:r>
              <a:rPr lang="tr-TR" dirty="0" smtClean="0"/>
              <a:t>İlk </a:t>
            </a:r>
            <a:r>
              <a:rPr lang="tr-TR" dirty="0"/>
              <a:t>olarak Apple Worldwide Developers Conference 2014 isimli etkinlikte duyurulan Swift, o zamandan bu zamana büyük ölçüde yol kat etti. O zamanlar Apple’ın üst düzey yöneticilerinden biri olan </a:t>
            </a:r>
            <a:r>
              <a:rPr lang="tr-TR" b="1" dirty="0"/>
              <a:t>Chris Lattner</a:t>
            </a:r>
            <a:r>
              <a:rPr lang="tr-TR" dirty="0"/>
              <a:t>, programlama dilinin temellerini 2010 yılında atmaya başladı.</a:t>
            </a:r>
          </a:p>
          <a:p>
            <a:r>
              <a:rPr lang="tr-TR" dirty="0"/>
              <a:t>Apple 2013 yılına kadar karşılarına çıkması muhtemel bir soruna cevap aradı. O sorun da yeni programlama dilinin hâli hazırda Apple ürünlere uygulama geliştirmek için kullanılan </a:t>
            </a:r>
            <a:r>
              <a:rPr lang="tr-TR" b="1" dirty="0"/>
              <a:t>Objective-C </a:t>
            </a:r>
            <a:r>
              <a:rPr lang="tr-TR" dirty="0"/>
              <a:t>ekosisteminde kendine nasıl yer bulacağıydı. Teknoloji devi, geliştiricileri Swift kullanmaya zorlamak istemiyordu. Çünkü böyle bir hareket çok sert tepkiler alabilirdi.</a:t>
            </a:r>
          </a:p>
          <a:p>
            <a:r>
              <a:rPr lang="tr-TR" dirty="0"/>
              <a:t>Apple bu noktada mevcut Objective-C diline yatırım yapmaya devam etmeye karar verdi. Ancak bir yandan da yeni ve güvenilir bir dil geliştirdiğinin mesajlarını vermeye başladı. Bundan bir yıl sonra ise Apple cihazlara uygulama geliştiren insanlar Swift’in betası ile tanıştılar. Swift, ilk ay </a:t>
            </a:r>
            <a:r>
              <a:rPr lang="tr-TR" b="1" dirty="0"/>
              <a:t>11 milyon kişi </a:t>
            </a:r>
            <a:r>
              <a:rPr lang="tr-TR" dirty="0"/>
              <a:t>tarafından indirildi.</a:t>
            </a:r>
          </a:p>
          <a:p>
            <a:endParaRPr lang="tr-TR" dirty="0"/>
          </a:p>
        </p:txBody>
      </p:sp>
    </p:spTree>
    <p:extLst>
      <p:ext uri="{BB962C8B-B14F-4D97-AF65-F5344CB8AC3E}">
        <p14:creationId xmlns:p14="http://schemas.microsoft.com/office/powerpoint/2010/main" val="14753269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smtClean="0"/>
              <a:t>myWORLD Otel Uygulaması</a:t>
            </a:r>
            <a:endParaRPr lang="tr-TR" dirty="0"/>
          </a:p>
        </p:txBody>
      </p:sp>
      <p:sp>
        <p:nvSpPr>
          <p:cNvPr id="3" name="Content Placeholder 2"/>
          <p:cNvSpPr>
            <a:spLocks noGrp="1"/>
          </p:cNvSpPr>
          <p:nvPr>
            <p:ph idx="1"/>
          </p:nvPr>
        </p:nvSpPr>
        <p:spPr/>
        <p:txBody>
          <a:bodyPr>
            <a:normAutofit fontScale="85000" lnSpcReduction="10000"/>
          </a:bodyPr>
          <a:lstStyle/>
          <a:p>
            <a:r>
              <a:rPr lang="tr-TR" b="1" dirty="0"/>
              <a:t>Amaç:</a:t>
            </a:r>
            <a:r>
              <a:rPr lang="tr-TR" dirty="0"/>
              <a:t> Herhangi bir dünya vatandaşının seyahat/tatil için belirli dönem aralıklarında otel/hotel konaklamalarına ihtiyaç duyar. </a:t>
            </a:r>
            <a:r>
              <a:rPr lang="tr-TR" b="1" i="1" dirty="0"/>
              <a:t>MyWorld</a:t>
            </a:r>
            <a:r>
              <a:rPr lang="tr-TR" dirty="0"/>
              <a:t> mobil cihazlar üzerinden bu sorunu tüm dünya vatandaşları için kolaylaştıracak. Yeri ve konumuna göre en uygun ve ferah otel/hotel bulmak artık çok kolay.</a:t>
            </a:r>
          </a:p>
          <a:p>
            <a:pPr marL="0" indent="0">
              <a:buNone/>
            </a:pPr>
            <a:r>
              <a:rPr lang="tr-TR" dirty="0"/>
              <a:t> </a:t>
            </a:r>
          </a:p>
          <a:p>
            <a:r>
              <a:rPr lang="tr-TR" b="1" dirty="0"/>
              <a:t> Kapsam:</a:t>
            </a:r>
            <a:r>
              <a:rPr lang="tr-TR" dirty="0"/>
              <a:t>  İOS işletim sistemlerinde çalışacak mobil uygulamalar ile gerekli bilgilerin sağlanacağı servislerin tasarım ve geliştirilmesini kapsar. </a:t>
            </a:r>
          </a:p>
          <a:p>
            <a:pPr marL="0" indent="0">
              <a:buNone/>
            </a:pPr>
            <a:r>
              <a:rPr lang="tr-TR" dirty="0"/>
              <a:t> </a:t>
            </a:r>
          </a:p>
          <a:p>
            <a:r>
              <a:rPr lang="tr-TR" dirty="0"/>
              <a:t> </a:t>
            </a:r>
            <a:r>
              <a:rPr lang="tr-TR" b="1" dirty="0"/>
              <a:t>Gereksinim:</a:t>
            </a:r>
            <a:r>
              <a:rPr lang="tr-TR" dirty="0"/>
              <a:t> Dünya vatandaşların iş ve öğrenim hayatı süresince kendine ayırdığı rahatlama dönemleri olması doğal. Yüzlerce tatil beldesini  gezmek isteyen bir insan en uygun ve kullanışlı otelde konaklamasını yapmak ister.Neredeyse teknoloji kullanmadan bu seyahatleri güzelleştirmek imkansız hale gelmiştir. İşte bu noktada mobil teknolojinin kullanımı ile bu ihtiyaçları daha kolay karşılamak için </a:t>
            </a:r>
            <a:r>
              <a:rPr lang="tr-TR" b="1" i="1" dirty="0"/>
              <a:t>MyWorld</a:t>
            </a:r>
            <a:r>
              <a:rPr lang="tr-TR" dirty="0"/>
              <a:t> proje fikri ortaya çıkmıştır. </a:t>
            </a:r>
          </a:p>
          <a:p>
            <a:endParaRPr lang="tr-TR" dirty="0"/>
          </a:p>
        </p:txBody>
      </p:sp>
    </p:spTree>
    <p:extLst>
      <p:ext uri="{BB962C8B-B14F-4D97-AF65-F5344CB8AC3E}">
        <p14:creationId xmlns:p14="http://schemas.microsoft.com/office/powerpoint/2010/main" val="12473959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b="1" dirty="0"/>
              <a:t>Uygulamanın Çalışma Algoritması:</a:t>
            </a:r>
            <a:r>
              <a:rPr lang="tr-TR" dirty="0"/>
              <a:t/>
            </a:r>
            <a:br>
              <a:rPr lang="tr-TR" dirty="0"/>
            </a:br>
            <a:endParaRPr lang="tr-TR" dirty="0"/>
          </a:p>
        </p:txBody>
      </p:sp>
      <p:sp>
        <p:nvSpPr>
          <p:cNvPr id="3" name="Content Placeholder 2"/>
          <p:cNvSpPr>
            <a:spLocks noGrp="1"/>
          </p:cNvSpPr>
          <p:nvPr>
            <p:ph idx="1"/>
          </p:nvPr>
        </p:nvSpPr>
        <p:spPr/>
        <p:txBody>
          <a:bodyPr/>
          <a:lstStyle/>
          <a:p>
            <a:r>
              <a:rPr lang="tr-TR" b="1" dirty="0"/>
              <a:t>1- </a:t>
            </a:r>
            <a:r>
              <a:rPr lang="tr-TR" b="1" i="1" dirty="0"/>
              <a:t>MyWorld </a:t>
            </a:r>
            <a:r>
              <a:rPr lang="tr-TR" dirty="0"/>
              <a:t>uygulaması App Store üzerinden telefona indirilir.</a:t>
            </a:r>
          </a:p>
          <a:p>
            <a:r>
              <a:rPr lang="tr-TR" b="1" dirty="0"/>
              <a:t>2-</a:t>
            </a:r>
            <a:r>
              <a:rPr lang="tr-TR" dirty="0"/>
              <a:t> Kullanıcı </a:t>
            </a:r>
            <a:r>
              <a:rPr lang="tr-TR" dirty="0" smtClean="0"/>
              <a:t>karşısına çıkan ekranda 3 butonla karşılaşır;</a:t>
            </a:r>
          </a:p>
          <a:p>
            <a:pPr>
              <a:buFont typeface="Arial" panose="020B0604020202020204" pitchFamily="34" charset="0"/>
              <a:buChar char="•"/>
            </a:pPr>
            <a:r>
              <a:rPr lang="tr-TR" sz="1200" b="1" dirty="0" smtClean="0"/>
              <a:t>A. Görseller, seçilirse otelin görselleri ile karşılaşır,</a:t>
            </a:r>
          </a:p>
          <a:p>
            <a:pPr>
              <a:buFont typeface="Arial" panose="020B0604020202020204" pitchFamily="34" charset="0"/>
              <a:buChar char="•"/>
            </a:pPr>
            <a:r>
              <a:rPr lang="tr-TR" sz="1200" b="1" dirty="0" smtClean="0"/>
              <a:t>B.Odalar, oda çeşitlerini ve otel hizmetleriyle karşılaşır,</a:t>
            </a:r>
          </a:p>
          <a:p>
            <a:pPr>
              <a:buFont typeface="Arial" panose="020B0604020202020204" pitchFamily="34" charset="0"/>
              <a:buChar char="•"/>
            </a:pPr>
            <a:r>
              <a:rPr lang="tr-TR" sz="1200" b="1" dirty="0" smtClean="0"/>
              <a:t>C.Rezervasyon, kullanıcı oda seçimi yapıp rezervasyon yapar.</a:t>
            </a:r>
            <a:endParaRPr lang="tr-TR" sz="1200" b="1" dirty="0"/>
          </a:p>
          <a:p>
            <a:r>
              <a:rPr lang="tr-TR" b="1" dirty="0" smtClean="0"/>
              <a:t>3- </a:t>
            </a:r>
            <a:r>
              <a:rPr lang="tr-TR" dirty="0"/>
              <a:t>Seçili tarih arasındaki boş </a:t>
            </a:r>
            <a:r>
              <a:rPr lang="tr-TR" dirty="0" smtClean="0"/>
              <a:t>oda ayarlanır,</a:t>
            </a:r>
            <a:endParaRPr lang="tr-TR" dirty="0"/>
          </a:p>
          <a:p>
            <a:r>
              <a:rPr lang="tr-TR" b="1" dirty="0"/>
              <a:t>4- </a:t>
            </a:r>
            <a:r>
              <a:rPr lang="tr-TR" dirty="0"/>
              <a:t>Kullanıcı dilediği </a:t>
            </a:r>
            <a:r>
              <a:rPr lang="tr-TR" dirty="0" smtClean="0"/>
              <a:t>odayı </a:t>
            </a:r>
            <a:r>
              <a:rPr lang="tr-TR" dirty="0"/>
              <a:t>seçtikten sonra rezerve ekranına geçer,</a:t>
            </a:r>
          </a:p>
          <a:p>
            <a:r>
              <a:rPr lang="tr-TR" b="1" dirty="0"/>
              <a:t>5-</a:t>
            </a:r>
            <a:r>
              <a:rPr lang="tr-TR" dirty="0"/>
              <a:t> İstenilen bilgiler girildikten sonra işlem tamamlanır.</a:t>
            </a:r>
          </a:p>
          <a:p>
            <a:endParaRPr lang="tr-TR" dirty="0"/>
          </a:p>
        </p:txBody>
      </p:sp>
    </p:spTree>
    <p:extLst>
      <p:ext uri="{BB962C8B-B14F-4D97-AF65-F5344CB8AC3E}">
        <p14:creationId xmlns:p14="http://schemas.microsoft.com/office/powerpoint/2010/main" val="30971475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b="1" dirty="0"/>
              <a:t>Uygulama Yapılış Aşamaları:</a:t>
            </a:r>
            <a:endParaRPr lang="tr-TR" dirty="0"/>
          </a:p>
        </p:txBody>
      </p:sp>
      <p:sp>
        <p:nvSpPr>
          <p:cNvPr id="3" name="Content Placeholder 2"/>
          <p:cNvSpPr>
            <a:spLocks noGrp="1"/>
          </p:cNvSpPr>
          <p:nvPr>
            <p:ph idx="1"/>
          </p:nvPr>
        </p:nvSpPr>
        <p:spPr/>
        <p:txBody>
          <a:bodyPr>
            <a:normAutofit lnSpcReduction="10000"/>
          </a:bodyPr>
          <a:lstStyle/>
          <a:p>
            <a:r>
              <a:rPr lang="tr-TR" dirty="0"/>
              <a:t>Kullanıcıların kolaylıkla </a:t>
            </a:r>
            <a:r>
              <a:rPr lang="tr-TR" dirty="0" smtClean="0"/>
              <a:t>ulaşabilecekleri 4 </a:t>
            </a:r>
            <a:r>
              <a:rPr lang="tr-TR" dirty="0"/>
              <a:t>adet ekranımız olacak. İlk ekranımızda;</a:t>
            </a:r>
          </a:p>
          <a:p>
            <a:r>
              <a:rPr lang="tr-TR" dirty="0" smtClean="0"/>
              <a:t>3 adet button ve otel icon görseli olacak, butonlar otelin görsellerine, oda/hizmet seçeneklerine ve rezervason yapmaya yarayacak.</a:t>
            </a:r>
            <a:r>
              <a:rPr lang="tr-TR" dirty="0"/>
              <a:t> </a:t>
            </a:r>
            <a:r>
              <a:rPr lang="tr-TR" dirty="0" smtClean="0"/>
              <a:t>İkinci ekranımızda;</a:t>
            </a:r>
          </a:p>
          <a:p>
            <a:r>
              <a:rPr lang="tr-TR" dirty="0" smtClean="0"/>
              <a:t>Otelin görüntüleri(odalar,hizmetler,havuzlar,oyun parkları, tiyatro vs..)bulunur.  Üçüncü ekranımızda;</a:t>
            </a:r>
          </a:p>
          <a:p>
            <a:r>
              <a:rPr lang="tr-TR" dirty="0" smtClean="0"/>
              <a:t>Otelin oda çeşitleri ve hizmet bilgileri yer alacak. Üçüncü ve son ekranımızda;</a:t>
            </a:r>
          </a:p>
          <a:p>
            <a:r>
              <a:rPr lang="tr-TR" dirty="0"/>
              <a:t>K</a:t>
            </a:r>
            <a:r>
              <a:rPr lang="tr-TR" dirty="0" smtClean="0"/>
              <a:t>ullanıcıdan </a:t>
            </a:r>
            <a:r>
              <a:rPr lang="tr-TR" dirty="0"/>
              <a:t>odada kalacak kişilerin isim bilgileri, e-mail adresi, telefon numarası ve iş bilgisi alınacak. Ödeme seçenekleri ise otel tarafından belirtilen şekilde gerçekleştirilecek.</a:t>
            </a:r>
          </a:p>
          <a:p>
            <a:endParaRPr lang="tr-TR" dirty="0" smtClean="0"/>
          </a:p>
        </p:txBody>
      </p:sp>
    </p:spTree>
    <p:extLst>
      <p:ext uri="{BB962C8B-B14F-4D97-AF65-F5344CB8AC3E}">
        <p14:creationId xmlns:p14="http://schemas.microsoft.com/office/powerpoint/2010/main" val="11595458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5130" y="232910"/>
            <a:ext cx="9404723" cy="1400530"/>
          </a:xfrm>
        </p:spPr>
        <p:txBody>
          <a:bodyPr/>
          <a:lstStyle/>
          <a:p>
            <a:r>
              <a:rPr lang="tr-TR" dirty="0" smtClean="0"/>
              <a:t>Birkaç Adımla Programı Anlatalım;</a:t>
            </a:r>
            <a:endParaRPr lang="tr-TR" dirty="0"/>
          </a:p>
        </p:txBody>
      </p:sp>
      <p:sp>
        <p:nvSpPr>
          <p:cNvPr id="3" name="Content Placeholder 2"/>
          <p:cNvSpPr>
            <a:spLocks noGrp="1"/>
          </p:cNvSpPr>
          <p:nvPr>
            <p:ph idx="1"/>
          </p:nvPr>
        </p:nvSpPr>
        <p:spPr>
          <a:xfrm>
            <a:off x="5099538" y="4277658"/>
            <a:ext cx="6585439" cy="2413288"/>
          </a:xfrm>
        </p:spPr>
        <p:txBody>
          <a:bodyPr/>
          <a:lstStyle/>
          <a:p>
            <a:r>
              <a:rPr lang="tr-TR" dirty="0" smtClean="0"/>
              <a:t>Main.storyboard ekranımıza 3 adet buttonumuzu, 3 adet View Controller, 1 adet imageView ve bir adet Navigation Controller ekliyoruz. </a:t>
            </a:r>
            <a:r>
              <a:rPr lang="tr-TR" dirty="0" smtClean="0"/>
              <a:t>Kullanıcı memnuniyeti için buttonlarımıza resim ekleyebiliriz.</a:t>
            </a:r>
            <a:endParaRPr lang="tr-TR" dirty="0"/>
          </a:p>
        </p:txBody>
      </p:sp>
      <p:pic>
        <p:nvPicPr>
          <p:cNvPr id="4" name="Picture 3"/>
          <p:cNvPicPr>
            <a:picLocks noChangeAspect="1"/>
          </p:cNvPicPr>
          <p:nvPr/>
        </p:nvPicPr>
        <p:blipFill>
          <a:blip r:embed="rId2"/>
          <a:stretch>
            <a:fillRect/>
          </a:stretch>
        </p:blipFill>
        <p:spPr>
          <a:xfrm>
            <a:off x="645130" y="1380393"/>
            <a:ext cx="5221604" cy="2897265"/>
          </a:xfrm>
          <a:prstGeom prst="rect">
            <a:avLst/>
          </a:prstGeom>
        </p:spPr>
      </p:pic>
    </p:spTree>
    <p:extLst>
      <p:ext uri="{BB962C8B-B14F-4D97-AF65-F5344CB8AC3E}">
        <p14:creationId xmlns:p14="http://schemas.microsoft.com/office/powerpoint/2010/main" val="3684371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b="1" dirty="0"/>
              <a:t>NavigationBar </a:t>
            </a:r>
            <a:r>
              <a:rPr lang="tr-TR" b="1" dirty="0" smtClean="0"/>
              <a:t>Nedir </a:t>
            </a:r>
            <a:r>
              <a:rPr lang="tr-TR" b="1" dirty="0"/>
              <a:t>ve </a:t>
            </a:r>
            <a:r>
              <a:rPr lang="tr-TR" b="1" dirty="0"/>
              <a:t>N</a:t>
            </a:r>
            <a:r>
              <a:rPr lang="tr-TR" b="1" dirty="0" smtClean="0"/>
              <a:t>asıl </a:t>
            </a:r>
            <a:r>
              <a:rPr lang="tr-TR" b="1" dirty="0"/>
              <a:t>Ö</a:t>
            </a:r>
            <a:r>
              <a:rPr lang="tr-TR" b="1" dirty="0" smtClean="0"/>
              <a:t>zelleştirilir</a:t>
            </a:r>
            <a:r>
              <a:rPr lang="tr-TR" b="1" dirty="0"/>
              <a:t>?</a:t>
            </a:r>
            <a:br>
              <a:rPr lang="tr-TR" b="1" dirty="0"/>
            </a:br>
            <a:endParaRPr lang="tr-TR" dirty="0"/>
          </a:p>
        </p:txBody>
      </p:sp>
      <p:sp>
        <p:nvSpPr>
          <p:cNvPr id="3" name="Content Placeholder 2"/>
          <p:cNvSpPr>
            <a:spLocks noGrp="1"/>
          </p:cNvSpPr>
          <p:nvPr>
            <p:ph idx="1"/>
          </p:nvPr>
        </p:nvSpPr>
        <p:spPr>
          <a:xfrm>
            <a:off x="5361689" y="4191378"/>
            <a:ext cx="6674980" cy="2517153"/>
          </a:xfrm>
        </p:spPr>
        <p:txBody>
          <a:bodyPr>
            <a:normAutofit fontScale="92500" lnSpcReduction="10000"/>
          </a:bodyPr>
          <a:lstStyle/>
          <a:p>
            <a:r>
              <a:rPr lang="tr-TR" dirty="0"/>
              <a:t>Navigation Bar’ın ortasında yer alan sayfanın başlığını oluşturur. Özelleştirmek isterseniz ilgili View Controller’ın </a:t>
            </a:r>
            <a:r>
              <a:rPr lang="tr-TR" b="1" dirty="0"/>
              <a:t>viewDidLoad() </a:t>
            </a:r>
            <a:r>
              <a:rPr lang="tr-TR" dirty="0"/>
              <a:t>metodu şöyle gözükmeli</a:t>
            </a:r>
            <a:r>
              <a:rPr lang="tr-TR" dirty="0" smtClean="0"/>
              <a:t>;</a:t>
            </a:r>
          </a:p>
          <a:p>
            <a:r>
              <a:rPr lang="tr-TR" dirty="0"/>
              <a:t>override func viewDidLoad() {</a:t>
            </a:r>
          </a:p>
          <a:p>
            <a:r>
              <a:rPr lang="tr-TR" dirty="0"/>
              <a:t>        super.viewDidLoad()</a:t>
            </a:r>
          </a:p>
          <a:p>
            <a:r>
              <a:rPr lang="tr-TR" dirty="0"/>
              <a:t>        title = "Ana Sayfa"</a:t>
            </a:r>
          </a:p>
          <a:p>
            <a:r>
              <a:rPr lang="tr-TR" dirty="0"/>
              <a:t>    }</a:t>
            </a:r>
            <a:endParaRPr lang="tr-TR" dirty="0"/>
          </a:p>
        </p:txBody>
      </p:sp>
      <p:pic>
        <p:nvPicPr>
          <p:cNvPr id="4" name="Picture 3"/>
          <p:cNvPicPr>
            <a:picLocks noChangeAspect="1"/>
          </p:cNvPicPr>
          <p:nvPr/>
        </p:nvPicPr>
        <p:blipFill>
          <a:blip r:embed="rId2"/>
          <a:stretch>
            <a:fillRect/>
          </a:stretch>
        </p:blipFill>
        <p:spPr>
          <a:xfrm>
            <a:off x="646111" y="2052918"/>
            <a:ext cx="4715578" cy="2138460"/>
          </a:xfrm>
          <a:prstGeom prst="rect">
            <a:avLst/>
          </a:prstGeom>
        </p:spPr>
      </p:pic>
    </p:spTree>
    <p:extLst>
      <p:ext uri="{BB962C8B-B14F-4D97-AF65-F5344CB8AC3E}">
        <p14:creationId xmlns:p14="http://schemas.microsoft.com/office/powerpoint/2010/main" val="67974148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smtClean="0"/>
              <a:t>backBarButtonItem;</a:t>
            </a:r>
            <a:endParaRPr lang="tr-TR" dirty="0"/>
          </a:p>
        </p:txBody>
      </p:sp>
      <p:sp>
        <p:nvSpPr>
          <p:cNvPr id="3" name="Content Placeholder 2"/>
          <p:cNvSpPr>
            <a:spLocks noGrp="1"/>
          </p:cNvSpPr>
          <p:nvPr>
            <p:ph idx="1"/>
          </p:nvPr>
        </p:nvSpPr>
        <p:spPr>
          <a:xfrm>
            <a:off x="2994512" y="2052918"/>
            <a:ext cx="8162926" cy="4195481"/>
          </a:xfrm>
        </p:spPr>
        <p:txBody>
          <a:bodyPr>
            <a:normAutofit/>
          </a:bodyPr>
          <a:lstStyle/>
          <a:p>
            <a:r>
              <a:rPr lang="tr-TR" sz="1600" dirty="0"/>
              <a:t>Navigation Controller kullanarak ileri gittiğiniz sayfalarda bir önceki sayfanın </a:t>
            </a:r>
            <a:r>
              <a:rPr lang="tr-TR" sz="1600" b="1" dirty="0"/>
              <a:t>title</a:t>
            </a:r>
            <a:r>
              <a:rPr lang="tr-TR" sz="1600" dirty="0"/>
              <a:t> değişkenine ne atadıysanız onu görürsünüz yani şu anki durumda ilk sayfamızın adı Ana Sayfa olduğu için Giriş Yap veya Kayıt Ol butonuna bastığınızda geri butonunuzun da başlığı resimdeki gibi Ana Sayfa olacaktır</a:t>
            </a:r>
            <a:r>
              <a:rPr lang="tr-TR" sz="1600" dirty="0" smtClean="0"/>
              <a:t>.</a:t>
            </a:r>
            <a:r>
              <a:rPr lang="tr-TR" sz="1600" dirty="0"/>
              <a:t> Ancak siz uygulamanızda bunu değiştirmek istiyorsunuz. Bunu yapabilmek için Apple sağolsun bizlere </a:t>
            </a:r>
            <a:r>
              <a:rPr lang="tr-TR" sz="1600" b="1" dirty="0"/>
              <a:t>backBarButtonItem </a:t>
            </a:r>
            <a:r>
              <a:rPr lang="tr-TR" sz="1600" dirty="0"/>
              <a:t>isminde bir değişken vermiş. Bunu kullanarak aşağıdaki kod parçasındaki gibi bu başlığı </a:t>
            </a:r>
            <a:r>
              <a:rPr lang="tr-TR" sz="1600" dirty="0" smtClean="0"/>
              <a:t>değiştirebiliriz.</a:t>
            </a:r>
          </a:p>
          <a:p>
            <a:r>
              <a:rPr lang="tr-TR" sz="1600" dirty="0"/>
              <a:t>override func viewDidLoad() {</a:t>
            </a:r>
          </a:p>
          <a:p>
            <a:r>
              <a:rPr lang="tr-TR" sz="1600" dirty="0"/>
              <a:t>        super.viewDidLoad()</a:t>
            </a:r>
          </a:p>
          <a:p>
            <a:r>
              <a:rPr lang="tr-TR" sz="1600" dirty="0"/>
              <a:t>        title = "Ana Sayfa"</a:t>
            </a:r>
          </a:p>
          <a:p>
            <a:r>
              <a:rPr lang="tr-TR" sz="1600" dirty="0"/>
              <a:t>        navigationItem.backBarButtonItem = UIBarButtonItem(title: "İlk Ekran", style: .plain, target: self, action: nil)</a:t>
            </a:r>
          </a:p>
          <a:p>
            <a:r>
              <a:rPr lang="tr-TR" sz="1600" dirty="0"/>
              <a:t>    }</a:t>
            </a:r>
          </a:p>
        </p:txBody>
      </p:sp>
      <p:pic>
        <p:nvPicPr>
          <p:cNvPr id="4" name="Picture 3"/>
          <p:cNvPicPr>
            <a:picLocks noChangeAspect="1"/>
          </p:cNvPicPr>
          <p:nvPr/>
        </p:nvPicPr>
        <p:blipFill>
          <a:blip r:embed="rId2"/>
          <a:stretch>
            <a:fillRect/>
          </a:stretch>
        </p:blipFill>
        <p:spPr>
          <a:xfrm>
            <a:off x="646111" y="1853248"/>
            <a:ext cx="2348401" cy="4451446"/>
          </a:xfrm>
          <a:prstGeom prst="rect">
            <a:avLst/>
          </a:prstGeom>
        </p:spPr>
      </p:pic>
    </p:spTree>
    <p:extLst>
      <p:ext uri="{BB962C8B-B14F-4D97-AF65-F5344CB8AC3E}">
        <p14:creationId xmlns:p14="http://schemas.microsoft.com/office/powerpoint/2010/main" val="3773330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smtClean="0"/>
              <a:t>UIDatePicker;</a:t>
            </a:r>
            <a:endParaRPr lang="tr-TR" dirty="0"/>
          </a:p>
        </p:txBody>
      </p:sp>
      <p:sp>
        <p:nvSpPr>
          <p:cNvPr id="3" name="Content Placeholder 2"/>
          <p:cNvSpPr>
            <a:spLocks noGrp="1"/>
          </p:cNvSpPr>
          <p:nvPr>
            <p:ph idx="1"/>
          </p:nvPr>
        </p:nvSpPr>
        <p:spPr>
          <a:xfrm>
            <a:off x="5461436" y="1862038"/>
            <a:ext cx="6730564" cy="4995962"/>
          </a:xfrm>
        </p:spPr>
        <p:txBody>
          <a:bodyPr/>
          <a:lstStyle/>
          <a:p>
            <a:r>
              <a:rPr lang="tr-TR" dirty="0"/>
              <a:t>Bir kullanıcının zaman içinde bir nokta (takvim tarihi, zaman değeri veya her ikisi) veya zaman aralığı (örneğin bir zamanlayıcı için) girmesine izin vermek için bir tarih seçici kullanabilirsiniz. Tarih seçici, ilişkili hedef nesnesiyle etkileşimleri raporlar</a:t>
            </a:r>
            <a:r>
              <a:rPr lang="tr-TR" dirty="0" smtClean="0"/>
              <a:t>.</a:t>
            </a:r>
          </a:p>
          <a:p>
            <a:endParaRPr lang="tr-TR" dirty="0"/>
          </a:p>
        </p:txBody>
      </p:sp>
      <p:pic>
        <p:nvPicPr>
          <p:cNvPr id="4" name="Picture 3"/>
          <p:cNvPicPr>
            <a:picLocks noChangeAspect="1"/>
          </p:cNvPicPr>
          <p:nvPr/>
        </p:nvPicPr>
        <p:blipFill>
          <a:blip r:embed="rId2"/>
          <a:stretch>
            <a:fillRect/>
          </a:stretch>
        </p:blipFill>
        <p:spPr>
          <a:xfrm>
            <a:off x="646111" y="1853247"/>
            <a:ext cx="4815325" cy="2964937"/>
          </a:xfrm>
          <a:prstGeom prst="rect">
            <a:avLst/>
          </a:prstGeom>
        </p:spPr>
      </p:pic>
      <p:pic>
        <p:nvPicPr>
          <p:cNvPr id="5" name="Picture 4"/>
          <p:cNvPicPr>
            <a:picLocks noChangeAspect="1"/>
          </p:cNvPicPr>
          <p:nvPr/>
        </p:nvPicPr>
        <p:blipFill>
          <a:blip r:embed="rId3"/>
          <a:stretch>
            <a:fillRect/>
          </a:stretch>
        </p:blipFill>
        <p:spPr>
          <a:xfrm>
            <a:off x="7737976" y="3543300"/>
            <a:ext cx="4225423" cy="2723417"/>
          </a:xfrm>
          <a:prstGeom prst="rect">
            <a:avLst/>
          </a:prstGeom>
        </p:spPr>
      </p:pic>
    </p:spTree>
    <p:extLst>
      <p:ext uri="{BB962C8B-B14F-4D97-AF65-F5344CB8AC3E}">
        <p14:creationId xmlns:p14="http://schemas.microsoft.com/office/powerpoint/2010/main" val="18649198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smtClean="0"/>
              <a:t>UIPickerView;</a:t>
            </a:r>
            <a:endParaRPr lang="tr-TR" dirty="0"/>
          </a:p>
        </p:txBody>
      </p:sp>
      <p:sp>
        <p:nvSpPr>
          <p:cNvPr id="3" name="Content Placeholder 2"/>
          <p:cNvSpPr>
            <a:spLocks noGrp="1"/>
          </p:cNvSpPr>
          <p:nvPr>
            <p:ph idx="1"/>
          </p:nvPr>
        </p:nvSpPr>
        <p:spPr>
          <a:xfrm>
            <a:off x="4290644" y="1853248"/>
            <a:ext cx="7710855" cy="4881660"/>
          </a:xfrm>
        </p:spPr>
        <p:txBody>
          <a:bodyPr/>
          <a:lstStyle/>
          <a:p>
            <a:pPr fontAlgn="base"/>
            <a:r>
              <a:rPr lang="tr-TR" dirty="0"/>
              <a:t>unc pickerView(pickerView: UIPickerView, didSelectRow row: Int, inComponent component: Int){</a:t>
            </a:r>
          </a:p>
          <a:p>
            <a:pPr fontAlgn="base"/>
            <a:r>
              <a:rPr lang="tr-TR" dirty="0"/>
              <a:t> if(component == 0){</a:t>
            </a:r>
          </a:p>
          <a:p>
            <a:pPr fontAlgn="base"/>
            <a:r>
              <a:rPr lang="tr-TR" dirty="0"/>
              <a:t>    itemSelected = kategoriler[row]</a:t>
            </a:r>
          </a:p>
          <a:p>
            <a:pPr fontAlgn="base"/>
            <a:r>
              <a:rPr lang="tr-TR" dirty="0"/>
              <a:t>    altkategoriler = altKategoriler[row]</a:t>
            </a:r>
          </a:p>
          <a:p>
            <a:pPr fontAlgn="base"/>
            <a:r>
              <a:rPr lang="tr-TR" dirty="0"/>
              <a:t>    pickerControl.reloadAllComponents()</a:t>
            </a:r>
          </a:p>
          <a:p>
            <a:pPr fontAlgn="base"/>
            <a:r>
              <a:rPr lang="tr-TR" dirty="0"/>
              <a:t>    self.fileUrlLabel.text = itemSelected</a:t>
            </a:r>
          </a:p>
          <a:p>
            <a:pPr fontAlgn="base"/>
            <a:r>
              <a:rPr lang="tr-TR" dirty="0"/>
              <a:t>}else{</a:t>
            </a:r>
          </a:p>
          <a:p>
            <a:pPr fontAlgn="base"/>
            <a:r>
              <a:rPr lang="tr-TR" dirty="0"/>
              <a:t>    var itemSelected = altkategoriler[row]</a:t>
            </a:r>
          </a:p>
          <a:p>
            <a:pPr fontAlgn="base"/>
            <a:r>
              <a:rPr lang="tr-TR" dirty="0"/>
              <a:t>    self.fileUrlLabel.text = itemSelected </a:t>
            </a:r>
          </a:p>
          <a:p>
            <a:pPr fontAlgn="base"/>
            <a:r>
              <a:rPr lang="tr-TR" dirty="0"/>
              <a:t>}}</a:t>
            </a:r>
          </a:p>
          <a:p>
            <a:endParaRPr lang="tr-TR" dirty="0"/>
          </a:p>
        </p:txBody>
      </p:sp>
      <p:pic>
        <p:nvPicPr>
          <p:cNvPr id="4" name="Picture 3"/>
          <p:cNvPicPr>
            <a:picLocks noChangeAspect="1"/>
          </p:cNvPicPr>
          <p:nvPr/>
        </p:nvPicPr>
        <p:blipFill>
          <a:blip r:embed="rId2"/>
          <a:stretch>
            <a:fillRect/>
          </a:stretch>
        </p:blipFill>
        <p:spPr>
          <a:xfrm>
            <a:off x="646110" y="1853248"/>
            <a:ext cx="3644535" cy="3413344"/>
          </a:xfrm>
          <a:prstGeom prst="rect">
            <a:avLst/>
          </a:prstGeom>
        </p:spPr>
      </p:pic>
    </p:spTree>
    <p:extLst>
      <p:ext uri="{BB962C8B-B14F-4D97-AF65-F5344CB8AC3E}">
        <p14:creationId xmlns:p14="http://schemas.microsoft.com/office/powerpoint/2010/main" val="39172207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smtClean="0"/>
              <a:t>UIStepper;</a:t>
            </a:r>
            <a:endParaRPr lang="tr-TR" dirty="0"/>
          </a:p>
        </p:txBody>
      </p:sp>
      <p:sp>
        <p:nvSpPr>
          <p:cNvPr id="3" name="Content Placeholder 2"/>
          <p:cNvSpPr>
            <a:spLocks noGrp="1"/>
          </p:cNvSpPr>
          <p:nvPr>
            <p:ph idx="1"/>
          </p:nvPr>
        </p:nvSpPr>
        <p:spPr>
          <a:xfrm>
            <a:off x="4950070" y="1676400"/>
            <a:ext cx="6752492" cy="4572000"/>
          </a:xfrm>
        </p:spPr>
        <p:txBody>
          <a:bodyPr/>
          <a:lstStyle/>
          <a:p>
            <a:r>
              <a:rPr lang="tr-TR" dirty="0" smtClean="0"/>
              <a:t>Son olarak Stepper’den bahsedelim. Rezervasyon esnasında kişi sayısı seçmek için müşteri karşısına 2 adet stepper çıkacaktır. Biri odaya girecek yetişkin, biri de çocuk sayısıdır.</a:t>
            </a:r>
          </a:p>
          <a:p>
            <a:r>
              <a:rPr lang="tr-TR" dirty="0" smtClean="0"/>
              <a:t>Ekranımızdaki label’lere verdiğimiz isimleri stepper’imizin action kısmında tanınmlıyoruz.</a:t>
            </a:r>
          </a:p>
          <a:p>
            <a:r>
              <a:rPr lang="tr-TR" dirty="0" smtClean="0"/>
              <a:t>Label.text = String(sender.value)</a:t>
            </a:r>
            <a:endParaRPr lang="tr-TR" dirty="0"/>
          </a:p>
        </p:txBody>
      </p:sp>
      <p:pic>
        <p:nvPicPr>
          <p:cNvPr id="4" name="Picture 3"/>
          <p:cNvPicPr>
            <a:picLocks noChangeAspect="1"/>
          </p:cNvPicPr>
          <p:nvPr/>
        </p:nvPicPr>
        <p:blipFill>
          <a:blip r:embed="rId2"/>
          <a:stretch>
            <a:fillRect/>
          </a:stretch>
        </p:blipFill>
        <p:spPr>
          <a:xfrm>
            <a:off x="646112" y="1676399"/>
            <a:ext cx="4303958" cy="4572000"/>
          </a:xfrm>
          <a:prstGeom prst="rect">
            <a:avLst/>
          </a:prstGeom>
        </p:spPr>
      </p:pic>
      <p:pic>
        <p:nvPicPr>
          <p:cNvPr id="5" name="Picture 4"/>
          <p:cNvPicPr>
            <a:picLocks noChangeAspect="1"/>
          </p:cNvPicPr>
          <p:nvPr/>
        </p:nvPicPr>
        <p:blipFill>
          <a:blip r:embed="rId3"/>
          <a:stretch>
            <a:fillRect/>
          </a:stretch>
        </p:blipFill>
        <p:spPr>
          <a:xfrm>
            <a:off x="8905875" y="4468689"/>
            <a:ext cx="2796687" cy="1779710"/>
          </a:xfrm>
          <a:prstGeom prst="rect">
            <a:avLst/>
          </a:prstGeom>
        </p:spPr>
      </p:pic>
    </p:spTree>
    <p:extLst>
      <p:ext uri="{BB962C8B-B14F-4D97-AF65-F5344CB8AC3E}">
        <p14:creationId xmlns:p14="http://schemas.microsoft.com/office/powerpoint/2010/main" val="29254347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smtClean="0"/>
              <a:t>KAYNAKÇA;</a:t>
            </a:r>
            <a:endParaRPr lang="tr-TR" dirty="0"/>
          </a:p>
        </p:txBody>
      </p:sp>
      <p:sp>
        <p:nvSpPr>
          <p:cNvPr id="3" name="Content Placeholder 2"/>
          <p:cNvSpPr>
            <a:spLocks noGrp="1"/>
          </p:cNvSpPr>
          <p:nvPr>
            <p:ph idx="1"/>
          </p:nvPr>
        </p:nvSpPr>
        <p:spPr>
          <a:xfrm>
            <a:off x="646111" y="1389186"/>
            <a:ext cx="9404723" cy="5292968"/>
          </a:xfrm>
        </p:spPr>
        <p:txBody>
          <a:bodyPr/>
          <a:lstStyle/>
          <a:p>
            <a:pPr marL="457200" indent="-457200">
              <a:buFont typeface="+mj-lt"/>
              <a:buAutoNum type="arabicPeriod"/>
            </a:pPr>
            <a:r>
              <a:rPr lang="tr-TR" dirty="0">
                <a:hlinkClick r:id="rId2"/>
              </a:rPr>
              <a:t>https://</a:t>
            </a:r>
            <a:r>
              <a:rPr lang="tr-TR" dirty="0" smtClean="0">
                <a:hlinkClick r:id="rId2"/>
              </a:rPr>
              <a:t>www.ioscreator.com/tutorials/stepper-ios-tutorial</a:t>
            </a:r>
            <a:endParaRPr lang="tr-TR" dirty="0" smtClean="0"/>
          </a:p>
          <a:p>
            <a:pPr marL="457200" indent="-457200">
              <a:buFont typeface="+mj-lt"/>
              <a:buAutoNum type="arabicPeriod"/>
            </a:pPr>
            <a:r>
              <a:rPr lang="tr-TR" dirty="0">
                <a:hlinkClick r:id="rId3"/>
              </a:rPr>
              <a:t>https://sezeromer.com/swift-outlet-ve-action</a:t>
            </a:r>
            <a:r>
              <a:rPr lang="tr-TR" dirty="0" smtClean="0">
                <a:hlinkClick r:id="rId3"/>
              </a:rPr>
              <a:t>/</a:t>
            </a:r>
            <a:endParaRPr lang="tr-TR" dirty="0" smtClean="0"/>
          </a:p>
          <a:p>
            <a:pPr marL="457200" indent="-457200">
              <a:buFont typeface="+mj-lt"/>
              <a:buAutoNum type="arabicPeriod"/>
            </a:pPr>
            <a:r>
              <a:rPr lang="tr-TR" dirty="0">
                <a:hlinkClick r:id="rId4"/>
              </a:rPr>
              <a:t>https://</a:t>
            </a:r>
            <a:r>
              <a:rPr lang="tr-TR" dirty="0" smtClean="0">
                <a:hlinkClick r:id="rId4"/>
              </a:rPr>
              <a:t>developer.apple.com/documentation/uikit/uipickerview</a:t>
            </a:r>
            <a:endParaRPr lang="tr-TR" dirty="0" smtClean="0"/>
          </a:p>
          <a:p>
            <a:pPr marL="457200" indent="-457200">
              <a:buFont typeface="+mj-lt"/>
              <a:buAutoNum type="arabicPeriod"/>
            </a:pPr>
            <a:r>
              <a:rPr lang="tr-TR" dirty="0">
                <a:hlinkClick r:id="rId5"/>
              </a:rPr>
              <a:t>https://developer.apple.com/documentation/uikit/uidatepicker</a:t>
            </a:r>
            <a:endParaRPr lang="tr-TR" dirty="0"/>
          </a:p>
        </p:txBody>
      </p:sp>
    </p:spTree>
    <p:extLst>
      <p:ext uri="{BB962C8B-B14F-4D97-AF65-F5344CB8AC3E}">
        <p14:creationId xmlns:p14="http://schemas.microsoft.com/office/powerpoint/2010/main" val="62904674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
  <TotalTime>555</TotalTime>
  <Words>561</Words>
  <Application>Microsoft Office PowerPoint</Application>
  <PresentationFormat>Widescreen</PresentationFormat>
  <Paragraphs>66</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Century Gothic</vt:lpstr>
      <vt:lpstr>Wingdings 3</vt:lpstr>
      <vt:lpstr>Ion</vt:lpstr>
      <vt:lpstr>İOS PROGRAMLAMAYA GİRİŞ ÖĞRENCİNİN; ADI = SERDAR MURAT SOYADI = ERİÇOK NUMARASI = 18MY93001    İOS PROGRAMLAMAYA GİRİŞ ÖGR.GRV.NİLGÜN İNCEREİS  </vt:lpstr>
      <vt:lpstr>XCode Nedir?</vt:lpstr>
      <vt:lpstr>Swift Nedir?</vt:lpstr>
      <vt:lpstr>myWORLD Otel Uygulaması</vt:lpstr>
      <vt:lpstr>Uygulamanın Çalışma Algoritması: </vt:lpstr>
      <vt:lpstr>Uygulama Yapılış Aşamaları:</vt:lpstr>
      <vt:lpstr>Birkaç Adımla Programı Anlatalım;</vt:lpstr>
      <vt:lpstr>NavigationBar Nedir ve Nasıl Özelleştirilir? </vt:lpstr>
      <vt:lpstr>backBarButtonItem;</vt:lpstr>
      <vt:lpstr>UIDatePicker;</vt:lpstr>
      <vt:lpstr>UIPickerView;</vt:lpstr>
      <vt:lpstr>UIStepper;</vt:lpstr>
      <vt:lpstr>KAYNAKÇA;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İOS PROGRAMLAMAYA GİRİŞ ÖĞRENCİNİN; ADI = SERDAR MURAT SOYADI = ERİÇOK NUMARASI = 18MY93001    İOS PROGRAMLAMAYA GİRİŞ ÖGR.GRV.NİLGÜN İNCEREİS  </dc:title>
  <dc:creator>Sero</dc:creator>
  <cp:lastModifiedBy>Sero</cp:lastModifiedBy>
  <cp:revision>14</cp:revision>
  <dcterms:created xsi:type="dcterms:W3CDTF">2020-04-28T20:21:33Z</dcterms:created>
  <dcterms:modified xsi:type="dcterms:W3CDTF">2020-04-29T12:59:17Z</dcterms:modified>
</cp:coreProperties>
</file>